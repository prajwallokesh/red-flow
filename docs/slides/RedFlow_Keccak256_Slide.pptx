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flow_slide_bg_light_promin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C2626"/>
                </a:solidFill>
                <a:latin typeface="Segoe UI"/>
              </a:defRPr>
            </a:pPr>
            <a:r>
              <a:t>CRYPTOGRAPHIC INTEGRITY &amp; ZERO-PII PRIVACY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Segoe UI"/>
              </a:defRPr>
            </a:pPr>
            <a:r>
              <a:t>Keccak-256 Cryptographic Hashing Function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64748B"/>
                </a:solidFill>
                <a:latin typeface="Segoe UI"/>
              </a:defRPr>
            </a:pPr>
            <a:r>
              <a:t>Deterministic State Fingerprinting &amp; Tamper-Proof On-Chain Verification in RedFlow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600"/>
              </a:spcAft>
              <a:defRPr sz="1400" b="1">
                <a:solidFill>
                  <a:srgbClr val="B91C1C"/>
                </a:solidFill>
                <a:latin typeface="Segoe UI"/>
              </a:defRPr>
            </a:pPr>
            <a:r>
              <a:t>Sponge Construction Mechanics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• State Array: Operates on 1600-bit state (b = r + c: Rate r = 1088 bits, Capacity c = 512 bits).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• Absorbing Phase: Message blocks are XORed into the bitrate slice of the state array.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• 24-Round Permutation: Applies 5 non-linear transformations: θ (parity), ρ (rotation), π (permutation), χ (mapping), and ι (constants).</a:t>
            </a:r>
          </a:p>
          <a:p>
            <a:pPr>
              <a:spcAft>
                <a:spcPts val="2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• Squeezing Phase: Extracts an immutable 256-bit (bytes32) output digest.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51959"/>
            <a:ext cx="5120640" cy="219456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600"/>
              </a:spcAft>
              <a:defRPr sz="1400" b="1">
                <a:solidFill>
                  <a:srgbClr val="15803D"/>
                </a:solidFill>
                <a:latin typeface="Segoe UI"/>
              </a:defRPr>
            </a:pPr>
            <a:r>
              <a:t>Key Architectural Advantages in RedFlow</a:t>
            </a:r>
          </a:p>
          <a:p>
            <a:pPr>
              <a:spcAft>
                <a:spcPts val="200"/>
              </a:spcAft>
              <a:defRPr sz="1050">
                <a:solidFill>
                  <a:srgbClr val="14532D"/>
                </a:solidFill>
                <a:latin typeface="Segoe UI"/>
              </a:defRPr>
            </a:pPr>
            <a:r>
              <a:t>✓ Zero-PII On-Chain: No donor names, phone numbers, or HIV/HBV medical notes touch the blockchain (100% HIPAA/DPDP compliant).</a:t>
            </a:r>
          </a:p>
          <a:p>
            <a:pPr>
              <a:spcAft>
                <a:spcPts val="200"/>
              </a:spcAft>
              <a:defRPr sz="1050">
                <a:solidFill>
                  <a:srgbClr val="14532D"/>
                </a:solidFill>
                <a:latin typeface="Segoe UI"/>
              </a:defRPr>
            </a:pPr>
            <a:r>
              <a:t>✓ Native EVM Opcode (0x20): Executed natively in hardware by Ethereum nodes for minimal gas cost (~30 gas).</a:t>
            </a:r>
          </a:p>
          <a:p>
            <a:pPr>
              <a:spcAft>
                <a:spcPts val="200"/>
              </a:spcAft>
              <a:defRPr sz="1050">
                <a:solidFill>
                  <a:srgbClr val="14532D"/>
                </a:solidFill>
                <a:latin typeface="Segoe UI"/>
              </a:defRPr>
            </a:pPr>
            <a:r>
              <a:t>✓ Length-Extension Immune: Unlike SHA-256 (Merkle-Damgård), Keccak's capacity prevents message extension forgery.</a:t>
            </a:r>
          </a:p>
          <a:p>
            <a:pPr>
              <a:spcAft>
                <a:spcPts val="200"/>
              </a:spcAft>
              <a:defRPr sz="1050">
                <a:solidFill>
                  <a:srgbClr val="14532D"/>
                </a:solidFill>
                <a:latin typeface="Segoe UI"/>
              </a:defRPr>
            </a:pPr>
            <a:r>
              <a:t>✓ Avalanche Effect: Altering 1 character in blood group or expiry date completely changes 50%+ of the hash output.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74519"/>
            <a:ext cx="5120640" cy="201168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600"/>
              </a:spcAft>
              <a:defRPr sz="1400" b="1">
                <a:solidFill>
                  <a:srgbClr val="0369A1"/>
                </a:solidFill>
                <a:latin typeface="Segoe UI"/>
              </a:defRPr>
            </a:pPr>
            <a:r>
              <a:t>Deterministic Field Serialization Pipeline</a:t>
            </a:r>
          </a:p>
          <a:p>
            <a:pPr>
              <a:spcAft>
                <a:spcPts val="300"/>
              </a:spcAft>
              <a:defRPr sz="1050">
                <a:solidFill>
                  <a:srgbClr val="1E3A8A"/>
                </a:solidFill>
                <a:latin typeface="Segoe UI"/>
              </a:defRPr>
            </a:pPr>
            <a:r>
              <a:t>• Canonical Payload Format:</a:t>
            </a:r>
            <a:br/>
            <a:r>
              <a:t>  chainId | unitId | donorId | bloodGroup | collectionDate | expiryDate | testStatus | availabilityStatus</a:t>
            </a:r>
          </a:p>
          <a:p>
            <a:pPr>
              <a:spcAft>
                <a:spcPts val="300"/>
              </a:spcAft>
              <a:defRPr sz="1050">
                <a:solidFill>
                  <a:srgbClr val="1E3A8A"/>
                </a:solidFill>
                <a:latin typeface="Segoe UI"/>
              </a:defRPr>
            </a:pPr>
            <a:r>
              <a:t>• Node.js Cryptographic Digest:</a:t>
            </a:r>
            <a:br/>
            <a:r>
              <a:t>  ethers.keccak256( ethers.toUtf8Bytes( input ) )</a:t>
            </a:r>
          </a:p>
          <a:p>
            <a:pPr>
              <a:spcAft>
                <a:spcPts val="300"/>
              </a:spcAft>
              <a:defRPr sz="1050">
                <a:solidFill>
                  <a:srgbClr val="1E3A8A"/>
                </a:solidFill>
                <a:latin typeface="Segoe UI"/>
              </a:defRPr>
            </a:pPr>
            <a:r>
              <a:t>• Dual-Platform Determinism:</a:t>
            </a:r>
            <a:br/>
            <a:r>
              <a:t>  Ensures byte-for-byte matching between off-chain JavaScript and on-chain Solidity.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69079"/>
            <a:ext cx="5120640" cy="2377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800"/>
              </a:spcAft>
              <a:defRPr sz="1200" b="1">
                <a:solidFill>
                  <a:srgbClr val="38BDF8"/>
                </a:solidFill>
                <a:latin typeface="Consolas"/>
              </a:defRPr>
            </a:pPr>
            <a:r>
              <a:t>Production Code &amp; Bedside Verification Rule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// 1. Off-Chain (backend/src/services/hashService.js)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const input = `${chainId}|${unitId}|${donorId}|${bloodGroup}|` +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              `${collectionDate}|${expiryDate}|${testStatus}|${availabilityStatus}`;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const unitHash = ethers.keccak256(ethers.toUtf8Bytes(input));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// 2. On-Chain Assertion (blockchain/contracts/RedFlow.sol)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bool isValid = (bloodUnits[unitId].dataHash == claimedHash);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// Bedside QR Verification Rule: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// If computedHash == onChainHash =&gt; VERIFIED GENUINE (Green Shield)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// If computedHash != onChainHash =&gt; TAMPERED / REJECTED (Red Alert)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