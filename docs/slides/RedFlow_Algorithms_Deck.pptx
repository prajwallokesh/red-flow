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flow_slide_bg_light_promin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C2626"/>
                </a:solidFill>
                <a:latin typeface="Segoe UI"/>
              </a:defRPr>
            </a:pPr>
            <a:r>
              <a:t>MATHEMATICAL &amp; CRYPTOGRAPHIC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RedFlow Core Algorithm Suite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Six Interconnected Mathematical, Clinical, and Cryptographic Algorithms Powering RedFlow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3337560" cy="201168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1E3A8A"/>
                </a:solidFill>
                <a:latin typeface="Segoe UI"/>
              </a:defRPr>
            </a:pPr>
            <a:r>
              <a:t>4.1 Haversine Distance</a:t>
            </a:r>
          </a:p>
          <a:p>
            <a:pPr>
              <a:defRPr sz="1100">
                <a:solidFill>
                  <a:srgbClr val="334155"/>
                </a:solidFill>
                <a:latin typeface="Segoe UI"/>
              </a:defRPr>
            </a:pPr>
            <a:r>
              <a:t>Computes exact great-circle spherical distance between hospital requisitions and donor coordinates.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16552" y="1828800"/>
            <a:ext cx="3337560" cy="201168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92400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92400E"/>
                </a:solidFill>
                <a:latin typeface="Segoe UI"/>
              </a:defRPr>
            </a:pPr>
            <a:r>
              <a:t>4.2 Fermat Spiral Dispersion</a:t>
            </a:r>
          </a:p>
          <a:p>
            <a:pPr>
              <a:defRPr sz="1100">
                <a:solidFill>
                  <a:srgbClr val="334155"/>
                </a:solidFill>
                <a:latin typeface="Segoe UI"/>
              </a:defRPr>
            </a:pPr>
            <a:r>
              <a:t>Applies Golden Angle (137.508°) mathematical dispersion to prevent map pin-stacking in dense pincodes.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01584" y="1828800"/>
            <a:ext cx="3337560" cy="2011680"/>
          </a:xfrm>
          <a:prstGeom prst="roundRect">
            <a:avLst/>
          </a:prstGeom>
          <a:solidFill>
            <a:srgbClr val="DCFCE7"/>
          </a:solidFill>
          <a:ln w="19050">
            <a:solidFill>
              <a:srgbClr val="1580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15803D"/>
                </a:solidFill>
                <a:latin typeface="Segoe UI"/>
              </a:defRPr>
            </a:pPr>
            <a:r>
              <a:t>4.3 Keccak-256 Fingerprint</a:t>
            </a:r>
          </a:p>
          <a:p>
            <a:pPr>
              <a:defRPr sz="1100">
                <a:solidFill>
                  <a:srgbClr val="334155"/>
                </a:solidFill>
                <a:latin typeface="Segoe UI"/>
              </a:defRPr>
            </a:pPr>
            <a:r>
              <a:t>Deterministic cryptographic hashing ensuring identical Zero-PII state proofs across Node.js &amp; Solidity.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60520"/>
            <a:ext cx="3337560" cy="2011680"/>
          </a:xfrm>
          <a:prstGeom prst="roundRect">
            <a:avLst/>
          </a:prstGeom>
          <a:solidFill>
            <a:srgbClr val="FEE2E2"/>
          </a:solidFill>
          <a:ln w="19050">
            <a:solidFill>
              <a:srgbClr val="991B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991B1B"/>
                </a:solidFill>
                <a:latin typeface="Segoe UI"/>
              </a:defRPr>
            </a:pPr>
            <a:r>
              <a:t>4.4 Antigen-Antibody Matrix</a:t>
            </a:r>
          </a:p>
          <a:p>
            <a:pPr>
              <a:defRPr sz="1100">
                <a:solidFill>
                  <a:srgbClr val="334155"/>
                </a:solidFill>
                <a:latin typeface="Segoe UI"/>
              </a:defRPr>
            </a:pPr>
            <a:r>
              <a:t>Codifies strict biological ABO &amp; Rh(D) compatibility rules for safe emergency blood transfusion matching.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6552" y="4160520"/>
            <a:ext cx="3337560" cy="2011680"/>
          </a:xfrm>
          <a:prstGeom prst="roundRect">
            <a:avLst/>
          </a:prstGeom>
          <a:solidFill>
            <a:srgbClr val="F3E8FF"/>
          </a:solidFill>
          <a:ln w="19050">
            <a:solidFill>
              <a:srgbClr val="6B2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6B21A8"/>
                </a:solidFill>
                <a:latin typeface="Segoe UI"/>
              </a:defRPr>
            </a:pPr>
            <a:r>
              <a:t>4.5 WHO 90-Day Rest Gap</a:t>
            </a:r>
          </a:p>
          <a:p>
            <a:pPr>
              <a:defRPr sz="1100">
                <a:solidFill>
                  <a:srgbClr val="334155"/>
                </a:solidFill>
                <a:latin typeface="Segoe UI"/>
              </a:defRPr>
            </a:pPr>
            <a:r>
              <a:t>Clinical recovery engine calculating mandatory biological gaps to prevent donor fatigue and over-donation.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1584" y="4160520"/>
            <a:ext cx="3337560" cy="201168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/>
          <a:lstStyle/>
          <a:p>
            <a:pPr algn="ctr">
              <a:spcAft>
                <a:spcPts val="600"/>
              </a:spcAft>
              <a:defRPr sz="1400" b="1">
                <a:solidFill>
                  <a:srgbClr val="0369A1"/>
                </a:solidFill>
                <a:latin typeface="Segoe UI"/>
              </a:defRPr>
            </a:pPr>
            <a:r>
              <a:t>4.6 Finite State Machine (FSM)</a:t>
            </a:r>
          </a:p>
          <a:p>
            <a:pPr>
              <a:defRPr sz="1100">
                <a:solidFill>
                  <a:srgbClr val="334155"/>
                </a:solidFill>
                <a:latin typeface="Segoe UI"/>
              </a:defRPr>
            </a:pPr>
            <a:r>
              <a:t>Six-stage formal custody state machine enforcing cold-chain transit, testing, and terminal retirement.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flow_slide_bg_light_promin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C2626"/>
                </a:solidFill>
                <a:latin typeface="Segoe UI"/>
              </a:defRPr>
            </a:pPr>
            <a:r>
              <a:t>ALGORITHM 4.1: GEOSPATIAL ROUTING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Haversine Geodesic Distance Formula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Calculating Exact Great-Circle Distances Across Earth's Spherical Curvature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/>
          <a:lstStyle/>
          <a:p>
            <a:pPr algn="ctr">
              <a:spcAft>
                <a:spcPts val="800"/>
              </a:spcAft>
              <a:defRPr sz="1600" b="1">
                <a:solidFill>
                  <a:srgbClr val="B91C1C"/>
                </a:solidFill>
                <a:latin typeface="Segoe UI"/>
              </a:defRPr>
            </a:pPr>
            <a:r>
              <a:t>Mathematical Formulation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Problem: Compute great-circle distance between a hospital coordinate (φ1, λ1) and donor coordinate (φ2, λ2) on Earth.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Delta Form: Δφ = φ2 - φ1 (lat diff in rad), Δλ = λ2 - λ1 (lon diff in rad)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Square Half-Chord: a = sin²(Δφ/2) + cos(φ1) · cos(φ2) · sin²(Δλ/2)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Angular Distance: c = 2 · atan2(√a, √(1-a)) in radians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Surface Distance: d = R · c   (where Earth mean volumetric radius R = 6,371 km)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Significance: Provides sub-second proximity sorting across 500+ postal codes with zero third-party API costs.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12064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spcAft>
                <a:spcPts val="1000"/>
              </a:spcAft>
              <a:defRPr sz="1200" b="1">
                <a:solidFill>
                  <a:srgbClr val="38BDF8"/>
                </a:solidFill>
                <a:latin typeface="Consolas"/>
              </a:defRPr>
            </a:pPr>
            <a:r>
              <a:t>backend/src/services/pincodeService.js</a:t>
            </a:r>
          </a:p>
          <a:p>
            <a:pPr>
              <a:defRPr sz="1000">
                <a:solidFill>
                  <a:srgbClr val="E2E8F0"/>
                </a:solidFill>
                <a:latin typeface="Consolas"/>
              </a:defRPr>
            </a:pPr>
            <a:r>
              <a:t>function calculateHaversineKm(lat1, lon1, lat2, lon2) {</a:t>
            </a:r>
          </a:p>
          <a:p>
            <a:pPr>
              <a:defRPr sz="1000">
                <a:solidFill>
                  <a:srgbClr val="E2E8F0"/>
                </a:solidFill>
                <a:latin typeface="Consolas"/>
              </a:defRPr>
            </a:pPr>
            <a:r>
              <a:t>  const R = 6371; // Earth radius in km</a:t>
            </a:r>
          </a:p>
          <a:p>
            <a:pPr>
              <a:defRPr sz="1000">
                <a:solidFill>
                  <a:srgbClr val="E2E8F0"/>
                </a:solidFill>
                <a:latin typeface="Consolas"/>
              </a:defRPr>
            </a:pPr>
            <a:r>
              <a:t>  const dLat = ((lat2 - lat1) * Math.PI) / 180;</a:t>
            </a:r>
          </a:p>
          <a:p>
            <a:pPr>
              <a:defRPr sz="1000">
                <a:solidFill>
                  <a:srgbClr val="E2E8F0"/>
                </a:solidFill>
                <a:latin typeface="Consolas"/>
              </a:defRPr>
            </a:pPr>
            <a:r>
              <a:t>  const dLon = ((lon2 - lon1) * Math.PI) / 180;</a:t>
            </a:r>
          </a:p>
          <a:p>
            <a:pPr>
              <a:defRPr sz="1000">
                <a:solidFill>
                  <a:srgbClr val="E2E8F0"/>
                </a:solidFill>
                <a:latin typeface="Consolas"/>
              </a:defRPr>
            </a:pPr>
          </a:p>
          <a:p>
            <a:pPr>
              <a:defRPr sz="1000">
                <a:solidFill>
                  <a:srgbClr val="E2E8F0"/>
                </a:solidFill>
                <a:latin typeface="Consolas"/>
              </a:defRPr>
            </a:pPr>
            <a:r>
              <a:t>  const a =</a:t>
            </a:r>
          </a:p>
          <a:p>
            <a:pPr>
              <a:defRPr sz="1000">
                <a:solidFill>
                  <a:srgbClr val="E2E8F0"/>
                </a:solidFill>
                <a:latin typeface="Consolas"/>
              </a:defRPr>
            </a:pPr>
            <a:r>
              <a:t>    Math.sin(dLat / 2) * Math.sin(dLat / 2) +</a:t>
            </a:r>
          </a:p>
          <a:p>
            <a:pPr>
              <a:defRPr sz="1000">
                <a:solidFill>
                  <a:srgbClr val="E2E8F0"/>
                </a:solidFill>
                <a:latin typeface="Consolas"/>
              </a:defRPr>
            </a:pPr>
            <a:r>
              <a:t>    Math.cos((lat1 * Math.PI) / 180) *</a:t>
            </a:r>
          </a:p>
          <a:p>
            <a:pPr>
              <a:defRPr sz="1000">
                <a:solidFill>
                  <a:srgbClr val="E2E8F0"/>
                </a:solidFill>
                <a:latin typeface="Consolas"/>
              </a:defRPr>
            </a:pPr>
            <a:r>
              <a:t>    Math.cos((lat2 * Math.PI) / 180) *</a:t>
            </a:r>
          </a:p>
          <a:p>
            <a:pPr>
              <a:defRPr sz="1000">
                <a:solidFill>
                  <a:srgbClr val="E2E8F0"/>
                </a:solidFill>
                <a:latin typeface="Consolas"/>
              </a:defRPr>
            </a:pPr>
            <a:r>
              <a:t>    Math.sin(dLon / 2) *</a:t>
            </a:r>
          </a:p>
          <a:p>
            <a:pPr>
              <a:defRPr sz="1000">
                <a:solidFill>
                  <a:srgbClr val="E2E8F0"/>
                </a:solidFill>
                <a:latin typeface="Consolas"/>
              </a:defRPr>
            </a:pPr>
            <a:r>
              <a:t>    Math.sin(dLon / 2);</a:t>
            </a:r>
          </a:p>
          <a:p>
            <a:pPr>
              <a:defRPr sz="1000">
                <a:solidFill>
                  <a:srgbClr val="E2E8F0"/>
                </a:solidFill>
                <a:latin typeface="Consolas"/>
              </a:defRPr>
            </a:pPr>
          </a:p>
          <a:p>
            <a:pPr>
              <a:defRPr sz="1000">
                <a:solidFill>
                  <a:srgbClr val="E2E8F0"/>
                </a:solidFill>
                <a:latin typeface="Consolas"/>
              </a:defRPr>
            </a:pPr>
            <a:r>
              <a:t>  const c = 2 * Math.atan2(Math.sqrt(a), Math.sqrt(1 - a));</a:t>
            </a:r>
          </a:p>
          <a:p>
            <a:pPr>
              <a:defRPr sz="1000">
                <a:solidFill>
                  <a:srgbClr val="E2E8F0"/>
                </a:solidFill>
                <a:latin typeface="Consolas"/>
              </a:defRPr>
            </a:pPr>
            <a:r>
              <a:t>  return Math.round(R * c * 10) / 10; // Rounded to 0.1km</a:t>
            </a:r>
          </a:p>
          <a:p>
            <a:pPr>
              <a:defRPr sz="100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flow_slide_bg_light_promin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C2626"/>
                </a:solidFill>
                <a:latin typeface="Segoe UI"/>
              </a:defRPr>
            </a:pPr>
            <a:r>
              <a:t>ALGORITHM 4.2: MAP VISUALIZATION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Fermat Spiral Pincode Dispersion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Resolving Marker Stacking on Leaflet Maps Using Golden Angle Phyllotaxis Geometry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B45309"/>
                </a:solidFill>
                <a:latin typeface="Segoe UI"/>
              </a:defRPr>
            </a:pPr>
            <a:r>
              <a:t>The Overlapping Pin Problem &amp; Solution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Problem: When multiple donors share identical pincode (e.g. 573201 Hassan), naively plotting central coordinates collapses all pins into a single point.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User Impact: Hospitals cannot distinguish individual donors or inspect separate profiles on Leaflet maps.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Biological Inspiration: Fermat spiral dispersion uses nature's Golden Angle (φ ≈ 137.508°), the same pattern seen in sunflower seed packing.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Mathematical Model: θ_i = i · 137.508° · (π / 180)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Polar to Cartesian: lat_i = lat_base + r · cos(θ_i)</a:t>
            </a:r>
            <a:br/>
            <a:r>
              <a:t>lng_i = lng_base + r · sin(θ_i)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Radial Growth: r = c · √i  ensures equidistant visual density with zero overlap.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120640" cy="4389120"/>
          </a:xfrm>
          <a:prstGeom prst="roundRect">
            <a:avLst/>
          </a:prstGeom>
          <a:solidFill>
            <a:srgbClr val="FEF3C7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/>
          <a:lstStyle/>
          <a:p>
            <a:pPr algn="ctr">
              <a:spcAft>
                <a:spcPts val="1200"/>
              </a:spcAft>
              <a:defRPr sz="1600" b="1">
                <a:solidFill>
                  <a:srgbClr val="92400E"/>
                </a:solidFill>
                <a:latin typeface="Segoe UI"/>
              </a:defRPr>
            </a:pPr>
            <a:r>
              <a:t>Visual Impact on Leaflet GIS Engine</a:t>
            </a:r>
          </a:p>
          <a:p>
            <a:pPr>
              <a:spcAft>
                <a:spcPts val="1000"/>
              </a:spcAft>
              <a:defRPr sz="1150">
                <a:solidFill>
                  <a:srgbClr val="78350F"/>
                </a:solidFill>
                <a:latin typeface="Segoe UI"/>
              </a:defRPr>
            </a:pPr>
            <a:r>
              <a:t>✓ Deterministic Distribution: Donor #1, #2, #N receive stable, repeatable micro-offsets.</a:t>
            </a:r>
          </a:p>
          <a:p>
            <a:pPr>
              <a:spcAft>
                <a:spcPts val="1000"/>
              </a:spcAft>
              <a:defRPr sz="1150">
                <a:solidFill>
                  <a:srgbClr val="78350F"/>
                </a:solidFill>
                <a:latin typeface="Segoe UI"/>
              </a:defRPr>
            </a:pPr>
            <a:r>
              <a:t>✓ Zero Geocoding API Overhead: Runs instantly in client/server memory without querying external mapping services.</a:t>
            </a:r>
          </a:p>
          <a:p>
            <a:pPr>
              <a:spcAft>
                <a:spcPts val="1000"/>
              </a:spcAft>
              <a:defRPr sz="1150">
                <a:solidFill>
                  <a:srgbClr val="78350F"/>
                </a:solidFill>
                <a:latin typeface="Segoe UI"/>
              </a:defRPr>
            </a:pPr>
            <a:r>
              <a:t>✓ Interactive Pin Selection: Nurses and coordinators can individually click every donor in high-density urban clusters.</a:t>
            </a:r>
          </a:p>
          <a:p>
            <a:pPr>
              <a:spcAft>
                <a:spcPts val="1000"/>
              </a:spcAft>
              <a:defRPr sz="1150">
                <a:solidFill>
                  <a:srgbClr val="78350F"/>
                </a:solidFill>
                <a:latin typeface="Segoe UI"/>
              </a:defRPr>
            </a:pPr>
            <a:r>
              <a:t>✓ Clinical Privacy Preserved: Dispersion naturally provides privacy obfuscation while maintaining neighborhood accuracy.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flow_slide_bg_light_promin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C2626"/>
                </a:solidFill>
                <a:latin typeface="Segoe UI"/>
              </a:defRPr>
            </a:pPr>
            <a:r>
              <a:t>ALGORITHM 4.3: CRYPTOGRAPHIC INTEGRITY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Deterministic Keccak-256 Merkle Fingerprinting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Guaranteed Cross-Platform Hash Equivalence Between Node.js and Ethereum Smart Contract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15803D"/>
                </a:solidFill>
                <a:latin typeface="Segoe UI"/>
              </a:defRPr>
            </a:pPr>
            <a:r>
              <a:t>Canonical Field Serialization Pipeline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Goal: Produce matching 32-byte cryptographic fingerprints across off-chain backend and on-chain EVM.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Delimiter Standard: Strict canonical pipe-delimited serialization sequence.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Payload String: Payload = chainId | unitId | donorId | bloodGroup | collectionDate | expiryDate | testStatus | availabilityStatus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Digest Computation: Digest = keccak256( toUtf8Bytes( Payload ) )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Tamper Proofing: Modifying a single timestamp or blood group produces completely divergent 256-bit hash (Avalanche Effect).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Zero-PII Compliance: No names, phone numbers, or clinical diagnoses are committed on-chain.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120640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spcAft>
                <a:spcPts val="1000"/>
              </a:spcAft>
              <a:defRPr sz="1200" b="1">
                <a:solidFill>
                  <a:srgbClr val="38BDF8"/>
                </a:solidFill>
                <a:latin typeface="Consolas"/>
              </a:defRPr>
            </a:pPr>
            <a:r>
              <a:t>Solidity Contract Assertion (RedFlow.sol)</a:t>
            </a:r>
          </a:p>
          <a:p>
            <a:pPr>
              <a:defRPr sz="1000">
                <a:solidFill>
                  <a:srgbClr val="E2E8F0"/>
                </a:solidFill>
                <a:latin typeface="Consolas"/>
              </a:defRPr>
            </a:pPr>
            <a:r>
              <a:t>// Smart Contract Verification Function</a:t>
            </a:r>
          </a:p>
          <a:p>
            <a:pPr>
              <a:defRPr sz="1000">
                <a:solidFill>
                  <a:srgbClr val="E2E8F0"/>
                </a:solidFill>
                <a:latin typeface="Consolas"/>
              </a:defRPr>
            </a:pPr>
            <a:r>
              <a:t>function verifyBloodUnit(</a:t>
            </a:r>
          </a:p>
          <a:p>
            <a:pPr>
              <a:defRPr sz="1000">
                <a:solidFill>
                  <a:srgbClr val="E2E8F0"/>
                </a:solidFill>
                <a:latin typeface="Consolas"/>
              </a:defRPr>
            </a:pPr>
            <a:r>
              <a:t>    string calldata unitId,</a:t>
            </a:r>
          </a:p>
          <a:p>
            <a:pPr>
              <a:defRPr sz="1000">
                <a:solidFill>
                  <a:srgbClr val="E2E8F0"/>
                </a:solidFill>
                <a:latin typeface="Consolas"/>
              </a:defRPr>
            </a:pPr>
            <a:r>
              <a:t>    bytes32 claimedHash</a:t>
            </a:r>
          </a:p>
          <a:p>
            <a:pPr>
              <a:defRPr sz="1000">
                <a:solidFill>
                  <a:srgbClr val="E2E8F0"/>
                </a:solidFill>
                <a:latin typeface="Consolas"/>
              </a:defRPr>
            </a:pPr>
            <a:r>
              <a:t>) external view returns (bool, string memory) {</a:t>
            </a:r>
          </a:p>
          <a:p>
            <a:pPr>
              <a:defRPr sz="1000">
                <a:solidFill>
                  <a:srgbClr val="E2E8F0"/>
                </a:solidFill>
                <a:latin typeface="Consolas"/>
              </a:defRPr>
            </a:pPr>
            <a:r>
              <a:t>    BloodUnitRecord memory record = bloodUnits[unitId];</a:t>
            </a:r>
          </a:p>
          <a:p>
            <a:pPr>
              <a:defRPr sz="1000">
                <a:solidFill>
                  <a:srgbClr val="E2E8F0"/>
                </a:solidFill>
                <a:latin typeface="Consolas"/>
              </a:defRPr>
            </a:pPr>
            <a:r>
              <a:t>    require(record.dataHash != bytes32(0), "Unit not found");</a:t>
            </a:r>
          </a:p>
          <a:p>
            <a:pPr>
              <a:defRPr sz="1000">
                <a:solidFill>
                  <a:srgbClr val="E2E8F0"/>
                </a:solidFill>
                <a:latin typeface="Consolas"/>
              </a:defRPr>
            </a:pPr>
          </a:p>
          <a:p>
            <a:pPr>
              <a:defRPr sz="1000">
                <a:solidFill>
                  <a:srgbClr val="E2E8F0"/>
                </a:solidFill>
                <a:latin typeface="Consolas"/>
              </a:defRPr>
            </a:pPr>
            <a:r>
              <a:t>    bool isValid = (record.dataHash == claimedHash);</a:t>
            </a:r>
          </a:p>
          <a:p>
            <a:pPr>
              <a:defRPr sz="1000">
                <a:solidFill>
                  <a:srgbClr val="E2E8F0"/>
                </a:solidFill>
                <a:latin typeface="Consolas"/>
              </a:defRPr>
            </a:pPr>
            <a:r>
              <a:t>    return (isValid, record.status);</a:t>
            </a:r>
          </a:p>
          <a:p>
            <a:pPr>
              <a:defRPr sz="100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  <a:p>
            <a:pPr>
              <a:defRPr sz="1000">
                <a:solidFill>
                  <a:srgbClr val="E2E8F0"/>
                </a:solidFill>
                <a:latin typeface="Consolas"/>
              </a:defRPr>
            </a:pPr>
          </a:p>
          <a:p>
            <a:pPr>
              <a:defRPr sz="1000">
                <a:solidFill>
                  <a:srgbClr val="E2E8F0"/>
                </a:solidFill>
                <a:latin typeface="Consolas"/>
              </a:defRPr>
            </a:pPr>
            <a:r>
              <a:t>// 1-Scan Assertion:</a:t>
            </a:r>
          </a:p>
          <a:p>
            <a:pPr>
              <a:defRPr sz="1000">
                <a:solidFill>
                  <a:srgbClr val="E2E8F0"/>
                </a:solidFill>
                <a:latin typeface="Consolas"/>
              </a:defRPr>
            </a:pPr>
            <a:r>
              <a:t>// If computedHash == onChainHash =&gt; VERIFIED GENUINE</a:t>
            </a:r>
          </a:p>
          <a:p>
            <a:pPr>
              <a:defRPr sz="1000">
                <a:solidFill>
                  <a:srgbClr val="E2E8F0"/>
                </a:solidFill>
                <a:latin typeface="Consolas"/>
              </a:defRPr>
            </a:pPr>
            <a:r>
              <a:t>// If computedHash != onChainHash =&gt; TAMPERED / REJECTED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flow_slide_bg_light_promin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C2626"/>
                </a:solidFill>
                <a:latin typeface="Segoe UI"/>
              </a:defRPr>
            </a:pPr>
            <a:r>
              <a:t>ALGORITHM 4.4: BIOLOGICAL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ABO &amp; Rh(D) Antigen-Antibody Compatibility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Mathematical Rules Engine Enforcing Safe Biological Transfusion &amp; Universal Donor Rules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82880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3566160"/>
                <a:gridCol w="3566160"/>
              </a:tblGrid>
              <a:tr h="4876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RECIPIENT GROUP</a:t>
                      </a:r>
                    </a:p>
                  </a:txBody>
                  <a:tcPr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COMPATIBLE DONOR BLOOD GROUPS (CAN RECEIVE FROM)</a:t>
                      </a:r>
                    </a:p>
                  </a:txBody>
                  <a:tcPr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CLINICAL SIGNIFICANCE</a:t>
                      </a:r>
                    </a:p>
                  </a:txBody>
                  <a:tcPr>
                    <a:solidFill>
                      <a:srgbClr val="DC2626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B91C1C"/>
                          </a:solidFill>
                          <a:latin typeface="Segoe UI"/>
                        </a:defRPr>
                      </a:pPr>
                      <a:r>
                        <a:t>O-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O-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Universal Red Blood Cell Donor (Essential in Emergency Trauma)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B91C1C"/>
                          </a:solidFill>
                          <a:latin typeface="Segoe UI"/>
                        </a:defRPr>
                      </a:pPr>
                      <a:r>
                        <a:t>O+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O+, O-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Most prevalent clinical demand (38% of population)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B91C1C"/>
                          </a:solidFill>
                          <a:latin typeface="Segoe UI"/>
                        </a:defRPr>
                      </a:pPr>
                      <a:r>
                        <a:t>A-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A-, O-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Platelet-rich resource; high platelet demand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B91C1C"/>
                          </a:solidFill>
                          <a:latin typeface="Segoe UI"/>
                        </a:defRPr>
                      </a:pPr>
                      <a:r>
                        <a:t>A+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A+, A-, O+, O-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High regional prevalence (34% of hospital admissions)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B91C1C"/>
                          </a:solidFill>
                          <a:latin typeface="Segoe UI"/>
                        </a:defRPr>
                      </a:pPr>
                      <a:r>
                        <a:t>B-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B-, O-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Rare negative Rh sub-group (approx 2% of donors)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B91C1C"/>
                          </a:solidFill>
                          <a:latin typeface="Segoe UI"/>
                        </a:defRPr>
                      </a:pPr>
                      <a:r>
                        <a:t>B+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B+, B-, O+, O-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Predominant clinical group in South Asia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B91C1C"/>
                          </a:solidFill>
                          <a:latin typeface="Segoe UI"/>
                        </a:defRPr>
                      </a:pPr>
                      <a:r>
                        <a:t>AB-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AB-, A-, B-, O-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Universal plasma donor; platelets compatible with all negative types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B91C1C"/>
                          </a:solidFill>
                          <a:latin typeface="Segoe UI"/>
                        </a:defRPr>
                      </a:pPr>
                      <a:r>
                        <a:t>AB+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All Groups (AB+, AB-, A+, A-, B+, B-, O+, O-)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Universal Red Blood Cell Recipient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flow_slide_bg_light_promin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C2626"/>
                </a:solidFill>
                <a:latin typeface="Segoe UI"/>
              </a:defRPr>
            </a:pPr>
            <a:r>
              <a:t>ALGORITHM 4.5: CLINICAL DEFERRAL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WHO 90-Day Biological Rest Gap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Clinical Interval Calculations Preventing Donor Anemia, Fatigue, and Over-Donation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6B21A8"/>
                </a:solidFill>
                <a:latin typeface="Segoe UI"/>
              </a:defRPr>
            </a:pPr>
            <a:r>
              <a:t>Mathematical Formulation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Clinical Baseline: World Health Organization (WHO) and National Blood Transfusion Council (NBTC) mandate 90-day biological rest between whole blood donations.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Elapsed Time Equation: Δt_days = ⌊ (t_current - t_lastDonation) / (1000 · 60 · 60 · 24) ⌋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Eligibility Piecewise Function: Eligibility = true   if (t_lastDonation == null OR Δt_days ≥ 90)</a:t>
            </a:r>
            <a:br/>
            <a:r>
              <a:t>Eligibility = false  (Days Left = 90 - Δt_days)  if Δt_days &lt; 90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Automated Recovery Countdown: Donors receive a live days-remaining countdown on their profile page.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Preventing Clinical Complications: Protects iron/ferritin stores and avoids donor deferral at collection camps.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120640" cy="4389120"/>
          </a:xfrm>
          <a:prstGeom prst="roundRect">
            <a:avLst/>
          </a:prstGeom>
          <a:solidFill>
            <a:srgbClr val="F3E8FF"/>
          </a:solidFill>
          <a:ln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/>
          <a:lstStyle/>
          <a:p>
            <a:pPr algn="ctr">
              <a:spcAft>
                <a:spcPts val="1200"/>
              </a:spcAft>
              <a:defRPr sz="1600" b="1">
                <a:solidFill>
                  <a:srgbClr val="581C87"/>
                </a:solidFill>
                <a:latin typeface="Segoe UI"/>
              </a:defRPr>
            </a:pPr>
            <a:r>
              <a:t>Runtime Implementation in RedFlow</a:t>
            </a:r>
          </a:p>
          <a:p>
            <a:pPr>
              <a:spcAft>
                <a:spcPts val="1000"/>
              </a:spcAft>
              <a:defRPr sz="1150">
                <a:solidFill>
                  <a:srgbClr val="581C87"/>
                </a:solidFill>
                <a:latin typeface="Segoe UI"/>
              </a:defRPr>
            </a:pPr>
            <a:r>
              <a:t>✓ First-Time Donors: Instant clearance upon identity verification (lastDonationDate = null).</a:t>
            </a:r>
          </a:p>
          <a:p>
            <a:pPr>
              <a:spcAft>
                <a:spcPts val="1000"/>
              </a:spcAft>
              <a:defRPr sz="1150">
                <a:solidFill>
                  <a:srgbClr val="581C87"/>
                </a:solidFill>
                <a:latin typeface="Segoe UI"/>
              </a:defRPr>
            </a:pPr>
            <a:r>
              <a:t>✓ Dynamic Badge States: Dashboard renders ELIGIBLE (Green), DEFERRED (Amber Countdown), or FLAGGED (Red).</a:t>
            </a:r>
          </a:p>
          <a:p>
            <a:pPr>
              <a:spcAft>
                <a:spcPts val="1000"/>
              </a:spcAft>
              <a:defRPr sz="1150">
                <a:solidFill>
                  <a:srgbClr val="581C87"/>
                </a:solidFill>
                <a:latin typeface="Segoe UI"/>
              </a:defRPr>
            </a:pPr>
            <a:r>
              <a:t>✓ Camp Fast-Track: Phlebotomist scanning QR code receives automated eligibility pass/fail verdict.</a:t>
            </a:r>
          </a:p>
          <a:p>
            <a:pPr>
              <a:spcAft>
                <a:spcPts val="1000"/>
              </a:spcAft>
              <a:defRPr sz="1150">
                <a:solidFill>
                  <a:srgbClr val="581C87"/>
                </a:solidFill>
                <a:latin typeface="Segoe UI"/>
              </a:defRPr>
            </a:pPr>
            <a:r>
              <a:t>✓ Zero Manual Math: Eliminates calculation errors by camp staff during peak intake hours.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dflow_slide_bg_light_promin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C2626"/>
                </a:solidFill>
                <a:latin typeface="Segoe UI"/>
              </a:defRPr>
            </a:pPr>
            <a:r>
              <a:t>ALGORITHM 4.6: STATE MACHINE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Segoe UI"/>
              </a:defRPr>
            </a:pPr>
            <a:r>
              <a:t>Finite State Machine (FSM) Blood Lifecycle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Segoe UI"/>
              </a:defRPr>
            </a:pPr>
            <a:r>
              <a:t>Enforcing Deterministic Custody Transitions, Cold-Chain Rules &amp; Terminal Retirement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 rIns="274320"/>
          <a:lstStyle/>
          <a:p>
            <a:pPr algn="ctr">
              <a:spcAft>
                <a:spcPts val="1000"/>
              </a:spcAft>
              <a:defRPr sz="1600" b="1">
                <a:solidFill>
                  <a:srgbClr val="0369A1"/>
                </a:solidFill>
                <a:latin typeface="Segoe UI"/>
              </a:defRPr>
            </a:pPr>
            <a:r>
              <a:t>Custody State Transition Model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Formal Definition: A deterministic finite state machine M = (Q, Σ, δ, q0, F) tracking each blood bag UUID.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Pending Test: Phlebotomy intake. Serology screening for HIV, HBV, HCV, Syphilis, Malaria.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Available: Passed lab screening. Placed in temperature-monitored refrigerated vaults.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Requested: Allocated to active hospital requisition with temporary stock reservation.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Issued (Terminal): Transfused to verified patient at hospital bedside. Unit ID permanently retired.</a:t>
            </a:r>
          </a:p>
          <a:p>
            <a:pPr>
              <a:spcAft>
                <a:spcPts val="600"/>
              </a:spcAft>
              <a:defRPr sz="1100">
                <a:solidFill>
                  <a:srgbClr val="334155"/>
                </a:solidFill>
                <a:latin typeface="Segoe UI"/>
              </a:defRPr>
            </a:pPr>
            <a:r>
              <a:t>• Rejected (Terminal): Contaminated, expired, or temperature breached. Sent to biohazard disposal.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120640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28600"/>
          <a:lstStyle/>
          <a:p>
            <a:pPr algn="ctr">
              <a:spcAft>
                <a:spcPts val="1000"/>
              </a:spcAft>
              <a:defRPr sz="1200" b="1">
                <a:solidFill>
                  <a:srgbClr val="38BDF8"/>
                </a:solidFill>
                <a:latin typeface="Consolas"/>
              </a:defRPr>
            </a:pPr>
            <a:r>
              <a:t>Transition Table in Node.js &amp; Smart Contract</a:t>
            </a:r>
          </a:p>
          <a:p>
            <a:pPr>
              <a:defRPr sz="1000">
                <a:solidFill>
                  <a:srgbClr val="E2E8F0"/>
                </a:solidFill>
                <a:latin typeface="Consolas"/>
              </a:defRPr>
            </a:pPr>
            <a:r>
              <a:t>const VALID_TRANSITIONS = {</a:t>
            </a:r>
          </a:p>
          <a:p>
            <a:pPr>
              <a:defRPr sz="1000">
                <a:solidFill>
                  <a:srgbClr val="E2E8F0"/>
                </a:solidFill>
                <a:latin typeface="Consolas"/>
              </a:defRPr>
            </a:pPr>
            <a:r>
              <a:t>  // Screening: pass to vault or reject</a:t>
            </a:r>
          </a:p>
          <a:p>
            <a:pPr>
              <a:defRPr sz="1000">
                <a:solidFill>
                  <a:srgbClr val="E2E8F0"/>
                </a:solidFill>
                <a:latin typeface="Consolas"/>
              </a:defRPr>
            </a:pPr>
            <a:r>
              <a:t>  'pending_test': ['available', 'rejected'],</a:t>
            </a:r>
          </a:p>
          <a:p>
            <a:pPr>
              <a:defRPr sz="1000">
                <a:solidFill>
                  <a:srgbClr val="E2E8F0"/>
                </a:solidFill>
                <a:latin typeface="Consolas"/>
              </a:defRPr>
            </a:pPr>
          </a:p>
          <a:p>
            <a:pPr>
              <a:defRPr sz="1000">
                <a:solidFill>
                  <a:srgbClr val="E2E8F0"/>
                </a:solidFill>
                <a:latin typeface="Consolas"/>
              </a:defRPr>
            </a:pPr>
            <a:r>
              <a:t>  // Cold vault: allocate or discard</a:t>
            </a:r>
          </a:p>
          <a:p>
            <a:pPr>
              <a:defRPr sz="1000">
                <a:solidFill>
                  <a:srgbClr val="E2E8F0"/>
                </a:solidFill>
                <a:latin typeface="Consolas"/>
              </a:defRPr>
            </a:pPr>
            <a:r>
              <a:t>  'available':    ['requested', 'rejected'],</a:t>
            </a:r>
          </a:p>
          <a:p>
            <a:pPr>
              <a:defRPr sz="1000">
                <a:solidFill>
                  <a:srgbClr val="E2E8F0"/>
                </a:solidFill>
                <a:latin typeface="Consolas"/>
              </a:defRPr>
            </a:pPr>
          </a:p>
          <a:p>
            <a:pPr>
              <a:defRPr sz="1000">
                <a:solidFill>
                  <a:srgbClr val="E2E8F0"/>
                </a:solidFill>
                <a:latin typeface="Consolas"/>
              </a:defRPr>
            </a:pPr>
            <a:r>
              <a:t>  // Allocated: transfuse or release back</a:t>
            </a:r>
          </a:p>
          <a:p>
            <a:pPr>
              <a:defRPr sz="1000">
                <a:solidFill>
                  <a:srgbClr val="E2E8F0"/>
                </a:solidFill>
                <a:latin typeface="Consolas"/>
              </a:defRPr>
            </a:pPr>
            <a:r>
              <a:t>  'requested':    ['issued', 'available'],</a:t>
            </a:r>
          </a:p>
          <a:p>
            <a:pPr>
              <a:defRPr sz="1000">
                <a:solidFill>
                  <a:srgbClr val="E2E8F0"/>
                </a:solidFill>
                <a:latin typeface="Consolas"/>
              </a:defRPr>
            </a:pPr>
          </a:p>
          <a:p>
            <a:pPr>
              <a:defRPr sz="1000">
                <a:solidFill>
                  <a:srgbClr val="E2E8F0"/>
                </a:solidFill>
                <a:latin typeface="Consolas"/>
              </a:defRPr>
            </a:pPr>
            <a:r>
              <a:t>  // Terminal state: transfused to patient</a:t>
            </a:r>
          </a:p>
          <a:p>
            <a:pPr>
              <a:defRPr sz="1000">
                <a:solidFill>
                  <a:srgbClr val="E2E8F0"/>
                </a:solidFill>
                <a:latin typeface="Consolas"/>
              </a:defRPr>
            </a:pPr>
            <a:r>
              <a:t>  'issued':       [],</a:t>
            </a:r>
          </a:p>
          <a:p>
            <a:pPr>
              <a:defRPr sz="1000">
                <a:solidFill>
                  <a:srgbClr val="E2E8F0"/>
                </a:solidFill>
                <a:latin typeface="Consolas"/>
              </a:defRPr>
            </a:pPr>
          </a:p>
          <a:p>
            <a:pPr>
              <a:defRPr sz="1000">
                <a:solidFill>
                  <a:srgbClr val="E2E8F0"/>
                </a:solidFill>
                <a:latin typeface="Consolas"/>
              </a:defRPr>
            </a:pPr>
            <a:r>
              <a:t>  // Terminal state: biohazard disposal</a:t>
            </a:r>
          </a:p>
          <a:p>
            <a:pPr>
              <a:defRPr sz="1000">
                <a:solidFill>
                  <a:srgbClr val="E2E8F0"/>
                </a:solidFill>
                <a:latin typeface="Consolas"/>
              </a:defRPr>
            </a:pPr>
            <a:r>
              <a:t>  'rejected':     []</a:t>
            </a:r>
          </a:p>
          <a:p>
            <a:pPr>
              <a:defRPr sz="1000">
                <a:solidFill>
                  <a:srgbClr val="E2E8F0"/>
                </a:solidFill>
                <a:latin typeface="Consolas"/>
              </a:defRPr>
            </a:pPr>
            <a:r>
              <a:t>};</a:t>
            </a:r>
          </a:p>
          <a:p>
            <a:pPr>
              <a:defRPr sz="1000">
                <a:solidFill>
                  <a:srgbClr val="E2E8F0"/>
                </a:solidFill>
                <a:latin typeface="Consolas"/>
              </a:defRPr>
            </a:pPr>
          </a:p>
          <a:p>
            <a:pPr>
              <a:defRPr sz="1000">
                <a:solidFill>
                  <a:srgbClr val="E2E8F0"/>
                </a:solidFill>
                <a:latin typeface="Consolas"/>
              </a:defRPr>
            </a:pPr>
            <a:r>
              <a:t>// Illegal transitions (e.g. pending_test -&gt; issued)</a:t>
            </a:r>
          </a:p>
          <a:p>
            <a:pPr>
              <a:defRPr sz="1000">
                <a:solidFill>
                  <a:srgbClr val="E2E8F0"/>
                </a:solidFill>
                <a:latin typeface="Consolas"/>
              </a:defRPr>
            </a:pPr>
            <a:r>
              <a:t>// throw HTTP 400 and revert Ethereum transactions.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